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66" r:id="rId4"/>
    <p:sldId id="260" r:id="rId5"/>
    <p:sldId id="258" r:id="rId6"/>
    <p:sldId id="270" r:id="rId7"/>
    <p:sldId id="267" r:id="rId8"/>
    <p:sldId id="268" r:id="rId9"/>
    <p:sldId id="269" r:id="rId10"/>
  </p:sldIdLst>
  <p:sldSz cx="14630400" cy="8229600"/>
  <p:notesSz cx="8229600" cy="14630400"/>
  <p:embeddedFontLst>
    <p:embeddedFont>
      <p:font typeface="Abadi" panose="020B0604020104020204" pitchFamily="34" charset="0"/>
      <p:regular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359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D38ED-4EA2-534F-DA87-A06A8F1CA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C9266-8295-29F9-B765-A946680B1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5FE105-DF60-9894-E790-A6188D3B8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1C35F-8BE1-B6B3-3305-78BFC69532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232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4DFA9-57EC-E23C-5BF9-F42295618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BA57A-7D5D-DB26-9B3B-F005FD84B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9B0F1-F1B6-47F0-E84B-6859218F4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9D5C7-A265-5D04-2324-0F3AAAA704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812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8" y="2453268"/>
            <a:ext cx="7961945" cy="1182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3600" b="0" i="0" dirty="0" err="1">
                <a:effectLst/>
                <a:latin typeface="gg sans"/>
              </a:rPr>
              <a:t>WorkBridge</a:t>
            </a:r>
            <a:r>
              <a:rPr lang="en-US" sz="3600" b="0" i="0" dirty="0">
                <a:effectLst/>
                <a:latin typeface="gg sans"/>
              </a:rPr>
              <a:t>: Organizational Social Network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713060" y="4312385"/>
            <a:ext cx="6266959" cy="61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by Maor Sapo, Roy Har Tziyon, Shai Yona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44709" y="5275421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8" name="Picture 7" descr="A logo for a company">
            <a:extLst>
              <a:ext uri="{FF2B5EF4-FFF2-40B4-BE49-F238E27FC236}">
                <a16:creationId xmlns:a16="http://schemas.microsoft.com/office/drawing/2014/main" id="{7269ACC3-DB30-EFA3-D95E-23B1ACBB5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424" y="0"/>
            <a:ext cx="3474976" cy="17761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B0252-6353-4CAA-05D6-68888923C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C0F7D8-B680-AB2A-5BAD-F418CE016422}"/>
              </a:ext>
            </a:extLst>
          </p:cNvPr>
          <p:cNvSpPr/>
          <p:nvPr/>
        </p:nvSpPr>
        <p:spPr>
          <a:xfrm>
            <a:off x="3452965" y="1073976"/>
            <a:ext cx="619284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Problem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C37DB7F-5F81-E4A0-1B58-5E4B246D5257}"/>
              </a:ext>
            </a:extLst>
          </p:cNvPr>
          <p:cNvSpPr/>
          <p:nvPr/>
        </p:nvSpPr>
        <p:spPr>
          <a:xfrm>
            <a:off x="892124" y="3269036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2000" dirty="0"/>
              <a:t>Teams use multiple disconnected tools (Email, WhatsApp)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060BFCE-13E0-53DB-9E58-D27FC338BFE7}"/>
              </a:ext>
            </a:extLst>
          </p:cNvPr>
          <p:cNvSpPr/>
          <p:nvPr/>
        </p:nvSpPr>
        <p:spPr>
          <a:xfrm>
            <a:off x="892124" y="2093616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/>
              <a:t>Usual applications often focus only on a single function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0EED48C-2912-5FAD-EF97-D73521BDF273}"/>
              </a:ext>
            </a:extLst>
          </p:cNvPr>
          <p:cNvSpPr/>
          <p:nvPr/>
        </p:nvSpPr>
        <p:spPr>
          <a:xfrm>
            <a:off x="892124" y="4493419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7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/>
              <a:t>Scalability issues as organizations grow</a:t>
            </a:r>
          </a:p>
        </p:txBody>
      </p:sp>
    </p:spTree>
    <p:extLst>
      <p:ext uri="{BB962C8B-B14F-4D97-AF65-F5344CB8AC3E}">
        <p14:creationId xmlns:p14="http://schemas.microsoft.com/office/powerpoint/2010/main" val="3401818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25B0D-3054-DAB9-AC06-94AEC5218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7307B0-5ED9-1EA4-C5B1-76150618A2EC}"/>
              </a:ext>
            </a:extLst>
          </p:cNvPr>
          <p:cNvSpPr/>
          <p:nvPr/>
        </p:nvSpPr>
        <p:spPr>
          <a:xfrm>
            <a:off x="3452965" y="1073976"/>
            <a:ext cx="619284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Solution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668818-BA83-0AED-9D64-C0CAFF2C1F65}"/>
              </a:ext>
            </a:extLst>
          </p:cNvPr>
          <p:cNvSpPr/>
          <p:nvPr/>
        </p:nvSpPr>
        <p:spPr>
          <a:xfrm>
            <a:off x="892124" y="2341756"/>
            <a:ext cx="914397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/>
              <a:t>Single application that combines essential communication tools in one place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B7BE9E0-9349-5168-DC6D-F01EC1AE2192}"/>
              </a:ext>
            </a:extLst>
          </p:cNvPr>
          <p:cNvSpPr/>
          <p:nvPr/>
        </p:nvSpPr>
        <p:spPr>
          <a:xfrm>
            <a:off x="892124" y="3356779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700"/>
              </a:lnSpc>
              <a:buSzPct val="100000"/>
            </a:pP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47A19DC-AA30-2F24-C882-83B40BAF91CD}"/>
              </a:ext>
            </a:extLst>
          </p:cNvPr>
          <p:cNvSpPr/>
          <p:nvPr/>
        </p:nvSpPr>
        <p:spPr>
          <a:xfrm>
            <a:off x="892124" y="3566219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/>
              <a:t>Tailored for workplace collaboration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BA5B70-2828-7EF1-9E2F-40EAD25E9D41}"/>
              </a:ext>
            </a:extLst>
          </p:cNvPr>
          <p:cNvSpPr txBox="1"/>
          <p:nvPr/>
        </p:nvSpPr>
        <p:spPr>
          <a:xfrm>
            <a:off x="892124" y="4706669"/>
            <a:ext cx="7315200" cy="410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/>
              <a:t>Built to scale with Kubernetes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36497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0413" y="846534"/>
            <a:ext cx="7675007" cy="633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2E3C4E"/>
                </a:solidFill>
                <a:latin typeface="Abadi" panose="020F0502020204030204" pitchFamily="34" charset="0"/>
                <a:ea typeface="Barlow Bold" pitchFamily="34" charset="-122"/>
                <a:cs typeface="Barlow Bold" pitchFamily="34" charset="-120"/>
              </a:rPr>
              <a:t>Kubernetes - Benefits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6160413" y="1768912"/>
            <a:ext cx="433268" cy="433268"/>
          </a:xfrm>
          <a:prstGeom prst="roundRect">
            <a:avLst>
              <a:gd name="adj" fmla="val 6667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945" y="1795463"/>
            <a:ext cx="304086" cy="3800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86205" y="1835110"/>
            <a:ext cx="2534007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Abadi" panose="020F0502020204030204" pitchFamily="34" charset="0"/>
                <a:ea typeface="Barlow Bold" pitchFamily="34" charset="-122"/>
                <a:cs typeface="Barlow Bold" pitchFamily="34" charset="-120"/>
              </a:rPr>
              <a:t>Scalability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6786205" y="2267307"/>
            <a:ext cx="7170182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/>
              <a:t>Enables autoscaling automatically when needed.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160413" y="3268742"/>
            <a:ext cx="433268" cy="433268"/>
          </a:xfrm>
          <a:prstGeom prst="roundRect">
            <a:avLst>
              <a:gd name="adj" fmla="val 6667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4945" y="3295293"/>
            <a:ext cx="304086" cy="380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86205" y="3334941"/>
            <a:ext cx="2534007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Abadi" panose="020F0502020204030204" pitchFamily="34" charset="0"/>
                <a:ea typeface="Barlow Bold" pitchFamily="34" charset="-122"/>
                <a:cs typeface="Barlow Bold" pitchFamily="34" charset="-120"/>
              </a:rPr>
              <a:t>High Availability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6786205" y="3767137"/>
            <a:ext cx="7170182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Multi-pod deployments, Health checks and load balancing.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160413" y="4768572"/>
            <a:ext cx="433268" cy="433268"/>
          </a:xfrm>
          <a:prstGeom prst="roundRect">
            <a:avLst>
              <a:gd name="adj" fmla="val 6667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4945" y="4795123"/>
            <a:ext cx="304086" cy="3800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86205" y="4834771"/>
            <a:ext cx="2564606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Abadi" panose="020F0502020204030204" pitchFamily="34" charset="0"/>
                <a:ea typeface="Barlow Bold" pitchFamily="34" charset="-122"/>
                <a:cs typeface="Barlow Bold" pitchFamily="34" charset="-120"/>
              </a:rPr>
              <a:t>Resource Management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6786205" y="5266968"/>
            <a:ext cx="7170182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Efficient allocation of resources for optimal performance.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160413" y="6268403"/>
            <a:ext cx="433268" cy="433268"/>
          </a:xfrm>
          <a:prstGeom prst="roundRect">
            <a:avLst>
              <a:gd name="adj" fmla="val 6667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4945" y="6294953"/>
            <a:ext cx="304086" cy="38004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86205" y="6334601"/>
            <a:ext cx="2936081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Abadi" panose="020F0502020204030204" pitchFamily="34" charset="0"/>
                <a:ea typeface="Barlow Bold" pitchFamily="34" charset="-122"/>
                <a:cs typeface="Barlow Bold" pitchFamily="34" charset="-120"/>
              </a:rPr>
              <a:t>Environment Management</a:t>
            </a:r>
            <a:endParaRPr lang="en-US" sz="1950" dirty="0"/>
          </a:p>
        </p:txBody>
      </p:sp>
      <p:sp>
        <p:nvSpPr>
          <p:cNvPr id="19" name="Text 12"/>
          <p:cNvSpPr/>
          <p:nvPr/>
        </p:nvSpPr>
        <p:spPr>
          <a:xfrm>
            <a:off x="6786205" y="6766798"/>
            <a:ext cx="7170182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ConfigMaps, Secrets, and Namespaces for secure and isolated environments.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2098" y="1297662"/>
            <a:ext cx="6752392" cy="556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2E3C4E"/>
                </a:solidFill>
                <a:latin typeface="Abadi" panose="020F0502020204030204" pitchFamily="34" charset="0"/>
                <a:ea typeface="Barlow Bold" pitchFamily="34" charset="-122"/>
                <a:cs typeface="Barlow Bold" pitchFamily="34" charset="-120"/>
              </a:rPr>
              <a:t>Technologies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98" y="2137291"/>
            <a:ext cx="422910" cy="4229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4077" y="2208133"/>
            <a:ext cx="1920240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Abadi" panose="020F0502020204030204" pitchFamily="34" charset="0"/>
                <a:ea typeface="Barlow Bold" pitchFamily="34" charset="-122"/>
                <a:cs typeface="Barlow Bold" pitchFamily="34" charset="-120"/>
              </a:rPr>
              <a:t>FastAPI (Python)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1141036" y="2587823"/>
            <a:ext cx="1920240" cy="1623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4653"/>
                </a:solidFill>
                <a:ea typeface="Montserrat" pitchFamily="34" charset="-122"/>
                <a:cs typeface="Arial" panose="020B0604020202020204" pitchFamily="34" charset="0"/>
              </a:rPr>
              <a:t>Picked for speed and type safety, Handles I/O faster than Django or Flask.</a:t>
            </a:r>
            <a:endParaRPr lang="en-US" sz="1300" dirty="0">
              <a:cs typeface="Arial" panose="020B0604020202020204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5772" y="2137291"/>
            <a:ext cx="422910" cy="42291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07750" y="2208133"/>
            <a:ext cx="1920359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Abadi" panose="020F0502020204030204" pitchFamily="34" charset="0"/>
                <a:ea typeface="Barlow Bold" pitchFamily="34" charset="-122"/>
                <a:cs typeface="Barlow Bold" pitchFamily="34" charset="-120"/>
              </a:rPr>
              <a:t>PostgreSQL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3907750" y="2587823"/>
            <a:ext cx="1920359" cy="1623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/>
              <a:t>Supports ACID transactions, scales smoothly, and integrates well with Kubernetes.</a:t>
            </a: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9564" y="2137291"/>
            <a:ext cx="422910" cy="4229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31543" y="2208133"/>
            <a:ext cx="1920359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Abadi" panose="020F0502020204030204" pitchFamily="34" charset="0"/>
                <a:ea typeface="Barlow Bold" pitchFamily="34" charset="-122"/>
                <a:cs typeface="Barlow Bold" pitchFamily="34" charset="-120"/>
              </a:rPr>
              <a:t>SQLAlchemy ORM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631543" y="2587823"/>
            <a:ext cx="1920359" cy="1894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/>
              <a:t>Simplifies code by using Python objects instead of SQL queries and enables easy switching between different databases in the future.</a:t>
            </a: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098" y="4850011"/>
            <a:ext cx="422910" cy="42291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84077" y="4920853"/>
            <a:ext cx="1920240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Abadi" panose="020F0502020204030204" pitchFamily="34" charset="0"/>
                <a:ea typeface="Barlow Bold" pitchFamily="34" charset="-122"/>
                <a:cs typeface="Barlow Bold" pitchFamily="34" charset="-120"/>
              </a:rPr>
              <a:t>JWT Authentication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1141036" y="5475655"/>
            <a:ext cx="4644033" cy="142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/>
              <a:t>JWT is stateless and scalable, No need to store sessions on the server. Signed tokens ensure security and support expiration, making it ideal for microservices and a standard for API authentication.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08A3B7-DBC2-0202-6F26-E0D1F16D7226}"/>
              </a:ext>
            </a:extLst>
          </p:cNvPr>
          <p:cNvSpPr txBox="1"/>
          <p:nvPr/>
        </p:nvSpPr>
        <p:spPr>
          <a:xfrm>
            <a:off x="3311912" y="657922"/>
            <a:ext cx="85864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High‑Level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561B3-B9A0-63D4-C76F-39561F55177C}"/>
              </a:ext>
            </a:extLst>
          </p:cNvPr>
          <p:cNvSpPr txBox="1"/>
          <p:nvPr/>
        </p:nvSpPr>
        <p:spPr>
          <a:xfrm>
            <a:off x="1594624" y="2330605"/>
            <a:ext cx="8586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•  Frontend: React.js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B3D14-D77B-F48F-3A7D-D5D1175089B9}"/>
              </a:ext>
            </a:extLst>
          </p:cNvPr>
          <p:cNvSpPr txBox="1"/>
          <p:nvPr/>
        </p:nvSpPr>
        <p:spPr>
          <a:xfrm>
            <a:off x="1494261" y="4034211"/>
            <a:ext cx="85864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Database: PostgreSQL (ACID, scalable)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FC029C-4F5B-570B-DC4E-78DDF026C5F6}"/>
              </a:ext>
            </a:extLst>
          </p:cNvPr>
          <p:cNvSpPr txBox="1"/>
          <p:nvPr/>
        </p:nvSpPr>
        <p:spPr>
          <a:xfrm>
            <a:off x="1494261" y="5891560"/>
            <a:ext cx="8586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Deployment: Docker, Kubernetes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975BF1-EE70-8BF1-6568-81675B2891EB}"/>
              </a:ext>
            </a:extLst>
          </p:cNvPr>
          <p:cNvSpPr txBox="1"/>
          <p:nvPr/>
        </p:nvSpPr>
        <p:spPr>
          <a:xfrm>
            <a:off x="1494261" y="3132040"/>
            <a:ext cx="8586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Backend (</a:t>
            </a:r>
            <a:r>
              <a:rPr lang="en-US" sz="2400" dirty="0" err="1"/>
              <a:t>FastAPI</a:t>
            </a:r>
            <a:r>
              <a:rPr lang="en-US" sz="2400" dirty="0"/>
              <a:t>) – Auth, Chat, Media services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750AD4-325E-EE0D-CA9B-A4A925941CF7}"/>
              </a:ext>
            </a:extLst>
          </p:cNvPr>
          <p:cNvSpPr txBox="1"/>
          <p:nvPr/>
        </p:nvSpPr>
        <p:spPr>
          <a:xfrm>
            <a:off x="1594624" y="5010548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• Real‑time: </a:t>
            </a:r>
            <a:r>
              <a:rPr lang="en-US" sz="2400" dirty="0" err="1"/>
              <a:t>WebSockets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76256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97974C-168A-4238-FE73-A96180957FF2}"/>
              </a:ext>
            </a:extLst>
          </p:cNvPr>
          <p:cNvSpPr txBox="1"/>
          <p:nvPr/>
        </p:nvSpPr>
        <p:spPr>
          <a:xfrm>
            <a:off x="3077737" y="997364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/>
              <a:t>Current Status (Done)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39AEEF-5BA2-7922-FE4E-1DF05D747453}"/>
              </a:ext>
            </a:extLst>
          </p:cNvPr>
          <p:cNvSpPr txBox="1"/>
          <p:nvPr/>
        </p:nvSpPr>
        <p:spPr>
          <a:xfrm>
            <a:off x="1694986" y="2150405"/>
            <a:ext cx="6445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Auth service with JWT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024B75-F8FD-14BE-A02B-04097A5FA91B}"/>
              </a:ext>
            </a:extLst>
          </p:cNvPr>
          <p:cNvSpPr txBox="1"/>
          <p:nvPr/>
        </p:nvSpPr>
        <p:spPr>
          <a:xfrm>
            <a:off x="1694986" y="4171306"/>
            <a:ext cx="6445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Group &amp; private chat endpoints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DF72A-EEB1-83BC-2277-F2D5F1D88064}"/>
              </a:ext>
            </a:extLst>
          </p:cNvPr>
          <p:cNvSpPr txBox="1"/>
          <p:nvPr/>
        </p:nvSpPr>
        <p:spPr>
          <a:xfrm>
            <a:off x="1694986" y="5163765"/>
            <a:ext cx="6445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Initial React frontend pages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73CBF1-A3FF-2F08-8805-A15CCD13C92D}"/>
              </a:ext>
            </a:extLst>
          </p:cNvPr>
          <p:cNvSpPr txBox="1"/>
          <p:nvPr/>
        </p:nvSpPr>
        <p:spPr>
          <a:xfrm>
            <a:off x="1694986" y="3178847"/>
            <a:ext cx="6445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User profiles &amp; registration</a:t>
            </a:r>
          </a:p>
        </p:txBody>
      </p:sp>
    </p:spTree>
    <p:extLst>
      <p:ext uri="{BB962C8B-B14F-4D97-AF65-F5344CB8AC3E}">
        <p14:creationId xmlns:p14="http://schemas.microsoft.com/office/powerpoint/2010/main" val="1956773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BDD0D-E1E4-0EAB-9B4A-3F72EC5D6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07A343-D971-F6F0-5B79-19C4F35B89B8}"/>
              </a:ext>
            </a:extLst>
          </p:cNvPr>
          <p:cNvSpPr txBox="1"/>
          <p:nvPr/>
        </p:nvSpPr>
        <p:spPr>
          <a:xfrm>
            <a:off x="2921620" y="707433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Future Work</a:t>
            </a:r>
            <a:endParaRPr lang="en-US" sz="24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9B43942-7A39-BC32-DF69-145EC6735263}"/>
              </a:ext>
            </a:extLst>
          </p:cNvPr>
          <p:cNvSpPr txBox="1">
            <a:spLocks/>
          </p:cNvSpPr>
          <p:nvPr/>
        </p:nvSpPr>
        <p:spPr>
          <a:xfrm>
            <a:off x="2163337" y="1734014"/>
            <a:ext cx="8229600" cy="499017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b="1"/>
            </a:pPr>
            <a:r>
              <a:rPr lang="en-US" b="1" dirty="0"/>
              <a:t>Must Have (by project end)</a:t>
            </a:r>
          </a:p>
          <a:p>
            <a:pPr lvl="1"/>
            <a:r>
              <a:rPr lang="en-US" dirty="0"/>
              <a:t>• </a:t>
            </a:r>
            <a:r>
              <a:rPr lang="en-US" dirty="0" err="1"/>
              <a:t>Websocket</a:t>
            </a:r>
            <a:endParaRPr lang="en-US" dirty="0"/>
          </a:p>
          <a:p>
            <a:pPr lvl="1"/>
            <a:r>
              <a:rPr lang="en-US" dirty="0"/>
              <a:t>• Kubernetes </a:t>
            </a:r>
            <a:r>
              <a:rPr lang="en-US" dirty="0" err="1"/>
              <a:t>intergration</a:t>
            </a:r>
            <a:endParaRPr lang="en-US" dirty="0"/>
          </a:p>
          <a:p>
            <a:pPr>
              <a:defRPr b="1"/>
            </a:pPr>
            <a:endParaRPr lang="en-US" b="1" dirty="0"/>
          </a:p>
          <a:p>
            <a:pPr>
              <a:defRPr b="1"/>
            </a:pPr>
            <a:r>
              <a:rPr lang="en-US" b="1" dirty="0"/>
              <a:t>Nice to Have (time permitting)</a:t>
            </a:r>
          </a:p>
          <a:p>
            <a:pPr lvl="1"/>
            <a:r>
              <a:rPr lang="en-US" dirty="0"/>
              <a:t>• Polls and organizational calendar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968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196476-10EC-3E95-1E97-6CBF60935F23}"/>
              </a:ext>
            </a:extLst>
          </p:cNvPr>
          <p:cNvSpPr txBox="1"/>
          <p:nvPr/>
        </p:nvSpPr>
        <p:spPr>
          <a:xfrm>
            <a:off x="3791415" y="979966"/>
            <a:ext cx="56982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1BAFD6-6D95-067B-5C6D-0E02B3A00D66}"/>
              </a:ext>
            </a:extLst>
          </p:cNvPr>
          <p:cNvSpPr txBox="1"/>
          <p:nvPr/>
        </p:nvSpPr>
        <p:spPr>
          <a:xfrm>
            <a:off x="3724508" y="3149550"/>
            <a:ext cx="548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557076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298</Words>
  <Application>Microsoft Office PowerPoint</Application>
  <PresentationFormat>Custom</PresentationFormat>
  <Paragraphs>53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Montserrat</vt:lpstr>
      <vt:lpstr>gg sans</vt:lpstr>
      <vt:lpstr>Abadi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Shai Yona</cp:lastModifiedBy>
  <cp:revision>25</cp:revision>
  <dcterms:created xsi:type="dcterms:W3CDTF">2025-05-30T18:53:26Z</dcterms:created>
  <dcterms:modified xsi:type="dcterms:W3CDTF">2025-06-04T12:48:55Z</dcterms:modified>
</cp:coreProperties>
</file>